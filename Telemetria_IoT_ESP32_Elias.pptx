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59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sa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1737360" cy="724806"/>
          </a:xfrm>
          <a:prstGeom prst="rect">
            <a:avLst/>
          </a:prstGeom>
        </p:spPr>
      </p:pic>
      <p:pic>
        <p:nvPicPr>
          <p:cNvPr id="3" name="Image 1" descr="assets/logo_unisat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566928"/>
            <a:ext cx="1737360" cy="5659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874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DA COMPUTAÇÃO  ·  INTERNET DAS COISAS (IoT)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822960" y="2240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veicular em ESP32 com painel em tempo real via Wi-Fi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34015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Releitura didática do sistema de telemetria Baja SAE (TCC) — agora com comunicação por Wi-Fi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Enns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Criciúma —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 ·  Telemetria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21280" cy="2240280"/>
          </a:xfrm>
          <a:prstGeom prst="roundRect">
            <a:avLst>
              <a:gd name="adj" fmla="val 3673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58368" y="1325880"/>
            <a:ext cx="221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58368" y="1746504"/>
            <a:ext cx="2218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à distância: sensores adquirem grandezas físicas e as transmitem, em tempo real, para uma estação remota de monitoramento.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61360" y="1143000"/>
            <a:ext cx="2621280" cy="2240280"/>
          </a:xfrm>
          <a:prstGeom prst="roundRect">
            <a:avLst>
              <a:gd name="adj" fmla="val 3673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462528" y="1325880"/>
            <a:ext cx="221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462528" y="1746504"/>
            <a:ext cx="2218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o veículo em operação sem fios presos ao piloto, antecipar falhas, registrar a sessão e apoiar decisões do box.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65520" y="1143000"/>
            <a:ext cx="2621280" cy="2240280"/>
          </a:xfrm>
          <a:prstGeom prst="roundRect">
            <a:avLst>
              <a:gd name="adj" fmla="val 3673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266688" y="1325880"/>
            <a:ext cx="221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trabalho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266688" y="1746504"/>
            <a:ext cx="2218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Releitura simplificada da telemetria Baja SAE (CAN + LoRa do TCC) para uma placa ESP32 didática e comunicação por Wi-Fi.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E3EF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cadeia da telemetria:   </a:t>
            </a: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r>
              <a:rPr lang="en-US" sz="14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e filtragem</a:t>
            </a:r>
            <a:r>
              <a:rPr lang="en-US" sz="14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transmissão (Wi-Fi)</a:t>
            </a:r>
            <a:r>
              <a:rPr lang="en-US" sz="14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monitoramento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acelerador, freio,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emergência, temp., DHT11, LDR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7472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474720" y="1234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· ponto de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Wi-Fi (192.168.4.1)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9224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92240" y="1234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Dash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notebook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770632" y="1691640"/>
            <a:ext cx="585216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606040" y="9052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8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sensores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788152" y="1691640"/>
            <a:ext cx="585216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623560" y="9052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·</a:t>
            </a:r>
            <a:endParaRPr lang="en-US" sz="8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2624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1" descr="assets/w_sc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2729484"/>
            <a:ext cx="246888" cy="2468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60704" y="255117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playground didática: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 desenvolvimento com módulo de E/S, sem capacitores externos.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7200" y="335584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assets/w_ru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3461004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0704" y="328269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própria (modo AP):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ESP32 sobe sua rede (BAJA_TELEM, 192.168.4.1) — conecta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40873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assets/w_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" y="419252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60704" y="401421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bidirecional: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telemetria, o painel envia comandos de LED de volta ao ESP32 (Luz do PIT e Bandeira).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de dados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(sensores)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487168" cy="676656"/>
          </a:xfrm>
          <a:prstGeom prst="roundRect">
            <a:avLst>
              <a:gd name="adj" fmla="val 12162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21792" y="1463040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potenciômetro · 0–100%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090672" y="1463040"/>
            <a:ext cx="2487168" cy="676656"/>
          </a:xfrm>
          <a:prstGeom prst="roundRect">
            <a:avLst>
              <a:gd name="adj" fmla="val 12162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255264" y="1463040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· reduz a velocidade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231136"/>
            <a:ext cx="2487168" cy="676656"/>
          </a:xfrm>
          <a:prstGeom prst="roundRect">
            <a:avLst>
              <a:gd name="adj" fmla="val 12162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21792" y="223113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· corta a velocidade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90672" y="2231136"/>
            <a:ext cx="2487168" cy="676656"/>
          </a:xfrm>
          <a:prstGeom prst="roundRect">
            <a:avLst>
              <a:gd name="adj" fmla="val 12162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255264" y="223113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do motor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simulada por software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999232"/>
            <a:ext cx="2487168" cy="676656"/>
          </a:xfrm>
          <a:prstGeom prst="roundRect">
            <a:avLst>
              <a:gd name="adj" fmla="val 12162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2999232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/ Umidade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DHT11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090672" y="2999232"/>
            <a:ext cx="2487168" cy="676656"/>
          </a:xfrm>
          <a:prstGeom prst="roundRect">
            <a:avLst>
              <a:gd name="adj" fmla="val 12162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255264" y="2999232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Luminosidade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LDR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852160" y="1097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(sinalização)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52160" y="1463040"/>
            <a:ext cx="2834640" cy="676656"/>
          </a:xfrm>
          <a:prstGeom prst="roundRect">
            <a:avLst>
              <a:gd name="adj" fmla="val 12162"/>
            </a:avLst>
          </a:prstGeom>
          <a:solidFill>
            <a:srgbClr val="E3EF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016752" y="1463040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do PIT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· comando do operador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852160" y="2231136"/>
            <a:ext cx="2834640" cy="676656"/>
          </a:xfrm>
          <a:prstGeom prst="roundRect">
            <a:avLst>
              <a:gd name="adj" fmla="val 12162"/>
            </a:avLst>
          </a:prstGeom>
          <a:solidFill>
            <a:srgbClr val="E3EF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016752" y="2231136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Bandeira vermelha
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· comando do operador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852160" y="2999232"/>
            <a:ext cx="2834640" cy="713232"/>
          </a:xfrm>
          <a:prstGeom prst="roundRect">
            <a:avLst>
              <a:gd name="adj" fmla="val 11538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016752" y="2999232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calculada a partir do acelerador (mostrada no display e no gráfico).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078224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E3EF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31520" y="407822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do motor simulada: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~85 °C em marcha lenta e sobe até ~110 °C sob aceleração, com aquecimento e resfriamento graduais.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anten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 ·  WebSocket assíncrono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527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assets/w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1357884"/>
            <a:ext cx="246888" cy="246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0704" y="117957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 bidirecional: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canal fica aberto — o ESP32 empurra os dados e recebe comandos no mesmo link, sem polling.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57200" y="20939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assets/w_sca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2199132"/>
            <a:ext cx="246888" cy="2468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0704" y="2020824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Assíncrono, não bloqueia: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ESPAsyncWebServer + AsyncWebSocket tratam as conexões por eventos; aquisição e display nunca travam pela rede.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3" descr="assets/w_rul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" y="3040380"/>
            <a:ext cx="246888" cy="2468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0704" y="2862072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AP, sem dependências: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sobe no próprio ESP32 (192.168.4.1): conecta e funciona, sem roteador.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457200" y="377647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4" descr="assets/w_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" y="3881628"/>
            <a:ext cx="246888" cy="2468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0704" y="3703320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estável: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pacotes/s (suficiente para os gráficos); economia de energia do Wi-Fi desligada para evitar quedas cíclicas.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 ·  Tarefas e filtros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assets/w_sc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1193292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7552" y="107899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(FreeRTOS)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663440" y="1097280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assets/w_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452" y="119329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93792" y="1078992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(do TCC)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57200" y="1691640"/>
            <a:ext cx="4023360" cy="877824"/>
          </a:xfrm>
          <a:prstGeom prst="roundRect">
            <a:avLst>
              <a:gd name="adj" fmla="val 9375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/>
          <p:nvPr/>
        </p:nvSpPr>
        <p:spPr>
          <a:xfrm>
            <a:off x="640080" y="1691640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núcleos, 5 tarefas: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sensores, processar, atualizar display e comunicar — cada uma no seu ritmo.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679192"/>
            <a:ext cx="4023360" cy="877824"/>
          </a:xfrm>
          <a:prstGeom prst="roundRect">
            <a:avLst>
              <a:gd name="adj" fmla="val 9375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/>
          <p:nvPr/>
        </p:nvSpPr>
        <p:spPr>
          <a:xfrm>
            <a:off x="640080" y="2679192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travas cruzadas: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não atrasa os sensores; um sensor lento não faz o display piscar.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666744"/>
            <a:ext cx="4023360" cy="877824"/>
          </a:xfrm>
          <a:prstGeom prst="roundRect">
            <a:avLst>
              <a:gd name="adj" fmla="val 9375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640080" y="3666744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segura: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mutexes + 1 fila de comandos evitam ler um dado “pela metade”.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663440" y="1691640"/>
            <a:ext cx="4023360" cy="877824"/>
          </a:xfrm>
          <a:prstGeom prst="roundRect">
            <a:avLst>
              <a:gd name="adj" fmla="val 9375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4846320" y="1691640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sujos: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sem capacitores — analógicos ruidosos e botões que trepidam.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2679192"/>
            <a:ext cx="4023360" cy="877824"/>
          </a:xfrm>
          <a:prstGeom prst="roundRect">
            <a:avLst>
              <a:gd name="adj" fmla="val 9375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5"/>
          <p:cNvSpPr/>
          <p:nvPr/>
        </p:nvSpPr>
        <p:spPr>
          <a:xfrm>
            <a:off x="4846320" y="2679192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móvel: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 as leituras analógicas.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63440" y="3666744"/>
            <a:ext cx="4023360" cy="877824"/>
          </a:xfrm>
          <a:prstGeom prst="roundRect">
            <a:avLst>
              <a:gd name="adj" fmla="val 9375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/>
          <p:nvPr/>
        </p:nvSpPr>
        <p:spPr>
          <a:xfrm>
            <a:off x="4846320" y="3666744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Anti-bounce (3 estágios): 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o botão por repetição, sem leitura falsa.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hardware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527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assets/w_ante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1357884"/>
            <a:ext cx="246888" cy="246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0704" y="117957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sintoma: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LED 2 ou o botão 2 nos pinos originais perturbava a leitura dos outros botões.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57200" y="20939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assets/w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2199132"/>
            <a:ext cx="246888" cy="2468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0704" y="2020824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 provável: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pinos sensíveis na energização (strapping/boot) e compartilhados com a UART0 — mexer neles afeta as demais leituras e o boot.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3" descr="assets/w_s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3040380"/>
            <a:ext cx="246888" cy="2468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0704" y="2862072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pinagem reorganizada — LEDs nas posições 1 e RGB, botões nas 3 e 4.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457200" y="377647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4" descr="assets/w_light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" y="3881628"/>
            <a:ext cx="246888" cy="2468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0704" y="3703320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evitado: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Serial (UART0) não foi usada por causa do conflito de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pinos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2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2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displays.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reaproveitado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assets/w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1293876"/>
            <a:ext cx="246888" cy="246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0704" y="1115568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TCC: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painel em Python / Dash / Plotly do receptor LoRa, reaproveitado.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57200" y="190195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assets/w_ante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2007108"/>
            <a:ext cx="246888" cy="2468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0704" y="1828800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fonte de dados: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serial deu lugar a um cliente WebSocket por Wi-Fi.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57200" y="261518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3" descr="assets/w_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2720340"/>
            <a:ext cx="246888" cy="2468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0704" y="2542032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gráfico por variável + indicadores grandes (velocidade, acelerador, temperatura, emergência/freio).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4" descr="assets/w_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" y="3433572"/>
            <a:ext cx="246888" cy="2468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60704" y="3255264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dos LEDs (alvo × confirmado):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confirmado, cinza = desligado, amarelo = em trânsito; reenvio automático até confirmar.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457200" y="404164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5" descr="assets/w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" y="4146804"/>
            <a:ext cx="246888" cy="2468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60704" y="3968496"/>
            <a:ext cx="7626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Gravação + playback: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em CSV (contínuo, independente da conexão) e reproduz a sessão respeitando o tempo real.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21" name="Text 13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resultados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30352" y="163677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66928" y="22860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pacotes — em bancada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60320" y="132588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633472" y="163677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670048" y="22860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analógica · média móvel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736592" y="163677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773168" y="22860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dos botões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66560" y="132588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839712" y="163677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Confiável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876288" y="228600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aguardam sincronização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154680"/>
            <a:ext cx="8229600" cy="1078992"/>
          </a:xfrm>
          <a:prstGeom prst="roundRect">
            <a:avLst>
              <a:gd name="adj" fmla="val 7627"/>
            </a:avLst>
          </a:prstGeom>
          <a:solidFill>
            <a:srgbClr val="E3EF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777240" y="3419856"/>
            <a:ext cx="548640" cy="548640"/>
          </a:xfrm>
          <a:prstGeom prst="ellipse">
            <a:avLst/>
          </a:prstGeom>
          <a:solidFill>
            <a:srgbClr val="E07B1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1" descr="assets/w_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552444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54480" y="3154680"/>
            <a:ext cx="5486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campo aberto — pendente
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alcance a registrar:  </a:t>
            </a:r>
            <a:r>
              <a:rPr lang="en-US" sz="14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x % de perda a x m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040880" y="3154680"/>
            <a:ext cx="1463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(preencher após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ensaio em campo)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assets/w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4434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4023360" cy="1207008"/>
          </a:xfrm>
          <a:prstGeom prst="roundRect">
            <a:avLst>
              <a:gd name="adj" fmla="val 6818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" y="147218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76656" y="1837944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didática em ESP32 + painel em tempo real, com tarefas, filtros e comandos confiáveis.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023360" cy="1207008"/>
          </a:xfrm>
          <a:prstGeom prst="roundRect">
            <a:avLst>
              <a:gd name="adj" fmla="val 6818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882896" y="147218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Decisões-chave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82896" y="1837944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assíncrono, concorrência com FreeRTOS e pinagem reorganizada por strapping/UART.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670048"/>
            <a:ext cx="4023360" cy="1207008"/>
          </a:xfrm>
          <a:prstGeom prst="roundRect">
            <a:avLst>
              <a:gd name="adj" fmla="val 6818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76656" y="281635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" y="3182112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de perda em bancada, leituras estáveis e acionamento confiável por sincronização.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670048"/>
            <a:ext cx="4023360" cy="1207008"/>
          </a:xfrm>
          <a:prstGeom prst="roundRect">
            <a:avLst>
              <a:gd name="adj" fmla="val 6818"/>
            </a:avLst>
          </a:prstGeom>
          <a:solidFill>
            <a:srgbClr val="ECF4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882896" y="281635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82896" y="3182112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campo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registrando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atenção!    </a:t>
            </a:r>
            <a:r>
              <a:rPr lang="en-US" sz="1300" dirty="0">
                <a:solidFill>
                  <a:srgbClr val="D6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Enns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IoT em ESP32  ·  UniSATC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2960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968</Words>
  <Application>Microsoft Office PowerPoint</Application>
  <PresentationFormat>Apresentação na tela (16:9)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Elias Enns</cp:lastModifiedBy>
  <cp:revision>3</cp:revision>
  <dcterms:created xsi:type="dcterms:W3CDTF">2026-06-25T20:29:50Z</dcterms:created>
  <dcterms:modified xsi:type="dcterms:W3CDTF">2026-06-25T20:38:19Z</dcterms:modified>
</cp:coreProperties>
</file>